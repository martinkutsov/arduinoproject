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8" r:id="rId5"/>
    <p:sldId id="283" r:id="rId6"/>
    <p:sldId id="278" r:id="rId7"/>
    <p:sldId id="270" r:id="rId8"/>
    <p:sldId id="272" r:id="rId9"/>
    <p:sldId id="284" r:id="rId10"/>
    <p:sldId id="282" r:id="rId11"/>
    <p:sldId id="286" r:id="rId12"/>
    <p:sldId id="285" r:id="rId13"/>
    <p:sldId id="274" r:id="rId14"/>
  </p:sldIdLst>
  <p:sldSz cx="12192000" cy="6858000"/>
  <p:notesSz cx="6858000" cy="9144000"/>
  <p:defaultTextStyle>
    <a:defPPr rtl="0">
      <a:defRPr lang="bg-BG"/>
    </a:defPPr>
    <a:lvl1pPr marL="0" algn="l" defTabSz="914400" rtl="0" eaLnBrk="1" latinLnBrk="0" hangingPunct="1">
      <a:defRPr lang="bg-BG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bg-BG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bg-BG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bg-BG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bg-BG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bg-BG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bg-BG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bg-BG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bg-BG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311845-2FDF-6CBC-D4D0-31CAA54F50C7}" v="703" dt="2026-04-23T20:53:44.780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8"/>
    <p:restoredTop sz="94830"/>
  </p:normalViewPr>
  <p:slideViewPr>
    <p:cSldViewPr snapToGrid="0" showGuides="1">
      <p:cViewPr varScale="1">
        <p:scale>
          <a:sx n="105" d="100"/>
          <a:sy n="105" d="100"/>
        </p:scale>
        <p:origin x="840" y="102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64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ен колонтитул 1">
            <a:extLst>
              <a:ext uri="{FF2B5EF4-FFF2-40B4-BE49-F238E27FC236}">
                <a16:creationId xmlns:a16="http://schemas.microsoft.com/office/drawing/2014/main" id="{B59C9DEE-5A32-E0A6-9FDC-FC0A6AE33A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bg-BG" sz="1200"/>
            </a:lvl1pPr>
          </a:lstStyle>
          <a:p>
            <a:pPr rtl="0"/>
            <a:endParaRPr lang="bg-BG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6CB40541-3969-91F7-1C1B-C22D64D94D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bg-BG" sz="1200"/>
            </a:lvl1pPr>
          </a:lstStyle>
          <a:p>
            <a:pPr rtl="0"/>
            <a:fld id="{E13081E2-2C58-49A3-96C8-ADAA04684153}" type="datetimeFigureOut">
              <a:rPr lang="bg-BG" smtClean="0"/>
              <a:t>25.4.2026 г.</a:t>
            </a:fld>
            <a:endParaRPr lang="bg-BG"/>
          </a:p>
        </p:txBody>
      </p:sp>
      <p:sp>
        <p:nvSpPr>
          <p:cNvPr id="4" name="Контейнер за долен колонтитул 3">
            <a:extLst>
              <a:ext uri="{FF2B5EF4-FFF2-40B4-BE49-F238E27FC236}">
                <a16:creationId xmlns:a16="http://schemas.microsoft.com/office/drawing/2014/main" id="{8AE9139F-698F-3A6E-E150-2991D68CE1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bg-BG" sz="1200"/>
            </a:lvl1pPr>
          </a:lstStyle>
          <a:p>
            <a:pPr rtl="0"/>
            <a:endParaRPr lang="bg-BG"/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5B58A415-5F98-9BA9-BEF5-31197FB930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bg-BG" sz="1200"/>
            </a:lvl1pPr>
          </a:lstStyle>
          <a:p>
            <a:pPr rtl="0"/>
            <a:fld id="{04C1A770-BC94-4251-9494-95BA8C99FD0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802770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ен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bg-BG" sz="1200"/>
            </a:lvl1pPr>
          </a:lstStyle>
          <a:p>
            <a:pPr rtl="0"/>
            <a:endParaRPr lang="bg-BG" dirty="0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bg-BG" sz="1200"/>
            </a:lvl1pPr>
          </a:lstStyle>
          <a:p>
            <a:pPr rtl="0"/>
            <a:fld id="{A9A067D9-116D-3843-ABDF-D6546C1962D4}" type="datetimeFigureOut">
              <a:rPr lang="bg-BG" smtClean="0"/>
              <a:t>25.4.2026 г.</a:t>
            </a:fld>
            <a:endParaRPr lang="bg-BG" dirty="0"/>
          </a:p>
        </p:txBody>
      </p:sp>
      <p:sp>
        <p:nvSpPr>
          <p:cNvPr id="4" name="Контейнер за изображение на слайд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bg-BG"/>
            </a:def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bg-BG" sz="1200"/>
            </a:lvl1pPr>
          </a:lstStyle>
          <a:p>
            <a:pPr rtl="0"/>
            <a:endParaRPr lang="bg-BG" dirty="0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bg-BG" sz="1200"/>
            </a:lvl1pPr>
          </a:lstStyle>
          <a:p>
            <a:pPr rtl="0"/>
            <a:fld id="{339D21CC-DD94-204E-93C8-E1AAF3084C8D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bg-BG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bg-BG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bg-BG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bg-BG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bg-BG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bg-BG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bg-BG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bg-BG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bg-BG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42244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768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67413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39123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68321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23746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34311-A0F1-6446-0985-338814CE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>
            <a:extLst>
              <a:ext uri="{FF2B5EF4-FFF2-40B4-BE49-F238E27FC236}">
                <a16:creationId xmlns:a16="http://schemas.microsoft.com/office/drawing/2014/main" id="{62ED1E8F-34A4-C95F-9997-7FD72AED3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>
            <a:extLst>
              <a:ext uri="{FF2B5EF4-FFF2-40B4-BE49-F238E27FC236}">
                <a16:creationId xmlns:a16="http://schemas.microsoft.com/office/drawing/2014/main" id="{9E4210BF-78BD-356D-48FA-A77245AC6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/>
          </a:p>
        </p:txBody>
      </p:sp>
      <p:sp>
        <p:nvSpPr>
          <p:cNvPr id="4" name="Контейнер за номер на слайд 3">
            <a:extLst>
              <a:ext uri="{FF2B5EF4-FFF2-40B4-BE49-F238E27FC236}">
                <a16:creationId xmlns:a16="http://schemas.microsoft.com/office/drawing/2014/main" id="{ED7FB653-7728-35BF-0208-98571651D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26097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11315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339D21CC-DD94-204E-93C8-E1AAF3084C8D}" type="slidenum">
              <a:rPr lang="bg-BG" smtClean="0"/>
              <a:t>10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9868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9.svg"/><Relationship Id="rId7" Type="http://schemas.openxmlformats.org/officeDocument/2006/relationships/image" Target="../media/image18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23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ка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Графика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Графика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Графика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Графика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Елипса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2" name="Елипса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4" name="Елипса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rtlCol="0" anchor="t">
            <a:noAutofit/>
          </a:bodyPr>
          <a:lstStyle>
            <a:lvl1pPr algn="l">
              <a:defRPr lang="bg-BG" sz="5900"/>
            </a:lvl1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 rtlCol="0"/>
          <a:lstStyle>
            <a:lvl1pPr marL="0" indent="0" algn="l">
              <a:buNone/>
              <a:defRPr lang="bg-BG" sz="2400"/>
            </a:lvl1pPr>
            <a:lvl2pPr marL="457200" indent="0" algn="ctr">
              <a:buNone/>
              <a:defRPr lang="bg-BG" sz="2000"/>
            </a:lvl2pPr>
            <a:lvl3pPr marL="914400" indent="0" algn="ctr">
              <a:buNone/>
              <a:defRPr lang="bg-BG" sz="1800"/>
            </a:lvl3pPr>
            <a:lvl4pPr marL="1371600" indent="0" algn="ctr">
              <a:buNone/>
              <a:defRPr lang="bg-BG" sz="1600"/>
            </a:lvl4pPr>
            <a:lvl5pPr marL="1828800" indent="0" algn="ctr">
              <a:buNone/>
              <a:defRPr lang="bg-BG" sz="1600"/>
            </a:lvl5pPr>
            <a:lvl6pPr marL="2286000" indent="0" algn="ctr">
              <a:buNone/>
              <a:defRPr lang="bg-BG" sz="1600"/>
            </a:lvl6pPr>
            <a:lvl7pPr marL="2743200" indent="0" algn="ctr">
              <a:buNone/>
              <a:defRPr lang="bg-BG" sz="1600"/>
            </a:lvl7pPr>
            <a:lvl8pPr marL="3200400" indent="0" algn="ctr">
              <a:buNone/>
              <a:defRPr lang="bg-BG" sz="1600"/>
            </a:lvl8pPr>
            <a:lvl9pPr marL="3657600" indent="0" algn="ctr">
              <a:buNone/>
              <a:defRPr lang="bg-BG" sz="1600"/>
            </a:lvl9pPr>
          </a:lstStyle>
          <a:p>
            <a:pPr rtl="0"/>
            <a:r>
              <a:rPr lang="bg-BG"/>
              <a:t>Щракнете, за да редактирате стила на подзаглавието в образеца</a:t>
            </a:r>
          </a:p>
        </p:txBody>
      </p:sp>
      <p:pic>
        <p:nvPicPr>
          <p:cNvPr id="26" name="Графика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Група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Свободна линия: Фигура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bg-BG"/>
              </a:defPPr>
            </a:lstStyle>
            <a:p>
              <a:pPr rtl="0"/>
              <a:endParaRPr lang="bg-BG" dirty="0"/>
            </a:p>
          </p:txBody>
        </p:sp>
        <p:pic>
          <p:nvPicPr>
            <p:cNvPr id="55" name="Графика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на съдържание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 rtlCol="0"/>
          <a:lstStyle>
            <a:lvl1pPr marL="0" indent="0">
              <a:buNone/>
              <a:defRPr lang="bg-BG" sz="1800"/>
            </a:lvl1pPr>
            <a:lvl2pPr marL="283464">
              <a:defRPr lang="bg-BG" sz="1800"/>
            </a:lvl2pPr>
            <a:lvl3pPr marL="566928">
              <a:defRPr lang="bg-BG" sz="1600"/>
            </a:lvl3pPr>
            <a:lvl4pPr marL="758952">
              <a:defRPr lang="bg-BG" sz="1400"/>
            </a:lvl4pPr>
            <a:lvl5pPr marL="1042416">
              <a:defRPr lang="bg-BG" sz="1400"/>
            </a:lvl5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7" name="Контейнер за текст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11" name="Свободна линия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13" name="Елипса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60" name="Контейнер за долен колонтитул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61" name="Контейнер за номер на слайд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 rtlCol="0"/>
          <a:lstStyle>
            <a:lvl1pPr>
              <a:defRPr lang="bg-BG" sz="6600"/>
            </a:lvl1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8" name="Контейнер за текст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14" name="Контейнер за текст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00</a:t>
            </a:r>
          </a:p>
        </p:txBody>
      </p:sp>
      <p:sp>
        <p:nvSpPr>
          <p:cNvPr id="9" name="Контейнер за текст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15" name="Контейнер за текст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00</a:t>
            </a:r>
          </a:p>
        </p:txBody>
      </p:sp>
      <p:sp>
        <p:nvSpPr>
          <p:cNvPr id="10" name="Контейнер за текст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16" name="Контейнер за текст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00</a:t>
            </a:r>
          </a:p>
        </p:txBody>
      </p:sp>
      <p:sp>
        <p:nvSpPr>
          <p:cNvPr id="11" name="Контейнер за текст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17" name="Контейнер за текст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00</a:t>
            </a:r>
          </a:p>
        </p:txBody>
      </p:sp>
      <p:sp>
        <p:nvSpPr>
          <p:cNvPr id="12" name="Контейнер за текст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18" name="Контейнер за текст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bg-BG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pic>
        <p:nvPicPr>
          <p:cNvPr id="11" name="Графика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Елипса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pic>
        <p:nvPicPr>
          <p:cNvPr id="10" name="Графика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Елипса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14" name="Елипса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pic>
        <p:nvPicPr>
          <p:cNvPr id="16" name="Графика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rtlCol="0" anchor="t">
            <a:noAutofit/>
          </a:bodyPr>
          <a:lstStyle>
            <a:lvl1pPr>
              <a:defRPr lang="bg-BG" sz="6600"/>
            </a:lvl1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 rtlCol="0"/>
          <a:lstStyle>
            <a:lvl1pPr marL="0" indent="0">
              <a:buNone/>
              <a:defRPr lang="bg-BG" sz="2400">
                <a:solidFill>
                  <a:schemeClr val="tx1"/>
                </a:solidFill>
              </a:defRPr>
            </a:lvl1pPr>
            <a:lvl2pPr marL="457200" indent="0">
              <a:buNone/>
              <a:defRPr lang="bg-BG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bg-BG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авие и съдържание – диаг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на съдържание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 rtlCol="0"/>
          <a:lstStyle>
            <a:defPPr>
              <a:defRPr lang="bg-BG"/>
            </a:def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10" name="Контейнер за текст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11" name="Контейнер за долен колонтитул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12" name="Контейнер за номер на слайд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авие и съдържание –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Графика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Правоъгълник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15" name="Елипса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на съдържание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 rtlCol="0"/>
          <a:lstStyle>
            <a:defPPr>
              <a:defRPr lang="bg-BG"/>
            </a:def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10" name="Контейнер за текст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25" name="Правоъгълник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40" name="Контейнер за долен колонтитул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41" name="Контейнер за номер на слайд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Графика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Заглавие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rtlCol="0" anchor="t">
            <a:noAutofit/>
          </a:bodyPr>
          <a:lstStyle>
            <a:lvl1pPr>
              <a:defRPr lang="bg-BG" sz="5500"/>
            </a:lvl1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67" name="Графика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59" name="Графика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9" name="Свободна линия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pic>
        <p:nvPicPr>
          <p:cNvPr id="26" name="Графика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 rtlCol="0">
            <a:normAutofit/>
          </a:bodyPr>
          <a:lstStyle>
            <a:lvl1pPr marL="0" indent="0">
              <a:buNone/>
              <a:defRPr lang="bg-BG" sz="1800">
                <a:solidFill>
                  <a:schemeClr val="tx1"/>
                </a:solidFill>
              </a:defRPr>
            </a:lvl1pPr>
            <a:lvl2pPr marL="457200" indent="0">
              <a:buNone/>
              <a:defRPr lang="bg-BG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bg-BG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79" name="Елипса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Екип –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ка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Правоъгълник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75" name="Заглавие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79" name="Правоъгълник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cxnSp>
        <p:nvCxnSpPr>
          <p:cNvPr id="81" name="Право съединение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Графика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Право съединение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Графика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Графика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Елипса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21" name="Елипса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23" name="Свободна линия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5" name="Свободна линия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7" name="Свободна линия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pic>
        <p:nvPicPr>
          <p:cNvPr id="29" name="Графика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Контейнер за текст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45" name="Контейнер за картина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46" name="Контейнер за картина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50" name="Контейнер за текст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bg-BG" sz="18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1" name="Контейнер за текст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bg-BG" sz="18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7" name="Контейнер за текст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bg-BG" sz="18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8" name="Контейнер за текст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bg-BG" sz="18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9" name="Контейнер за текст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4" name="Контейнер за текст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72" name="Контейнер за картина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73" name="Контейнер за картина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56" name="Контейнер за текст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74" name="Контейнер за текст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" name="Контейнер за долен колонтитул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Екип –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Елипса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9" name="Елипса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14" name="Елипса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77" name="Правоъгълник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79" name="Правоъгълник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cxnSp>
        <p:nvCxnSpPr>
          <p:cNvPr id="81" name="Право съединение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Графика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Право съединение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Контейнер за текст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45" name="Контейнер за картина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46" name="Контейнер за картина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50" name="Контейнер за текст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6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1" name="Контейнер за текст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6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7" name="Контейнер за текст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6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8" name="Контейнер за текст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6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9" name="Контейнер за текст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4" name="Контейнер за текст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72" name="Контейнер за картина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73" name="Контейнер за картина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56" name="Контейнер за текст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74" name="Контейнер за текст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75" name="Заглавие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24" name="Елипса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26" name="Елипса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28" name="Елипса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30" name="Елипса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sp>
        <p:nvSpPr>
          <p:cNvPr id="31" name="Контейнер за картина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32" name="Контейнер за картина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33" name="Контейнер за текст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6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4" name="Контейнер за текст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6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5" name="Контейнер за текст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6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6" name="Контейнер за текст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600"/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7" name="Контейнер за текст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8" name="Контейнер за текст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9" name="Контейнер за картина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40" name="Контейнер за картина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bg-BG" sz="800"/>
            </a:lvl1pPr>
          </a:lstStyle>
          <a:p>
            <a:pPr rtl="0"/>
            <a:endParaRPr lang="bg-BG" dirty="0"/>
          </a:p>
        </p:txBody>
      </p:sp>
      <p:sp>
        <p:nvSpPr>
          <p:cNvPr id="41" name="Контейнер за текст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42" name="Контейнер за текст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авие и съдържание – Графики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на съдържание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 rtlCol="0"/>
          <a:lstStyle>
            <a:defPPr>
              <a:defRPr lang="bg-BG"/>
            </a:def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7" name="Контейнер за текст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9" name="Контейнер за долен колонтитул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10" name="Контейнер за номер на слайд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Контейнер за текст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на съдържание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defPPr>
              <a:defRPr lang="bg-BG"/>
            </a:def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4" name="Контейнер на съдържание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defPPr>
              <a:defRPr lang="bg-BG"/>
            </a:def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ва ли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Контейнер за текст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 rtlCol="0">
            <a:noAutofit/>
          </a:bodyPr>
          <a:lstStyle>
            <a:lvl1pPr marL="0" indent="0">
              <a:buNone/>
              <a:defRPr lang="bg-BG" sz="1200">
                <a:noFill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3" name="Контейнер за текст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 rtlCol="0">
            <a:noAutofit/>
          </a:bodyPr>
          <a:lstStyle>
            <a:lvl1pPr marL="0" indent="0">
              <a:buNone/>
              <a:defRPr lang="bg-BG" sz="1200">
                <a:noFill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4" name="Контейнер за текст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 rtlCol="0">
            <a:noAutofit/>
          </a:bodyPr>
          <a:lstStyle>
            <a:lvl1pPr marL="0" indent="0">
              <a:buNone/>
              <a:defRPr lang="bg-BG" sz="1200">
                <a:noFill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5" name="Контейнер за текст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 rtlCol="0">
            <a:noAutofit/>
          </a:bodyPr>
          <a:lstStyle>
            <a:lvl1pPr marL="0" indent="0">
              <a:buNone/>
              <a:defRPr lang="bg-BG" sz="1200">
                <a:noFill/>
              </a:defRPr>
            </a:lvl1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13" name="Правоъгълник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17" name="Правоъгълник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4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5" name="Контейнер за текст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4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10" name="Заглавие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15" name="Контейнер за текст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bg-BG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МММ</a:t>
            </a:r>
          </a:p>
        </p:txBody>
      </p:sp>
      <p:sp>
        <p:nvSpPr>
          <p:cNvPr id="19" name="Контейнер за текст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bg-BG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МММ</a:t>
            </a:r>
          </a:p>
        </p:txBody>
      </p:sp>
      <p:sp>
        <p:nvSpPr>
          <p:cNvPr id="21" name="Контейнер за текст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bg-BG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МММ</a:t>
            </a:r>
          </a:p>
        </p:txBody>
      </p:sp>
      <p:sp>
        <p:nvSpPr>
          <p:cNvPr id="23" name="Контейнер за текст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bg-BG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МММ</a:t>
            </a:r>
          </a:p>
        </p:txBody>
      </p:sp>
      <p:sp>
        <p:nvSpPr>
          <p:cNvPr id="25" name="Контейнер за текст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bg-BG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bg-BG"/>
              <a:t>МММ</a:t>
            </a:r>
          </a:p>
        </p:txBody>
      </p:sp>
      <p:sp>
        <p:nvSpPr>
          <p:cNvPr id="26" name="Контейнер за текст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4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27" name="Контейнер за текст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4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28" name="Контейнер за текст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4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36" name="Контейнер за долен колонтитул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2" name="Контейнер за текст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4" name="Контейнер за номер на слайд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Графика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Графика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Правоъгълник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17" name="Правоъгълник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18" name="Свободна линия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2" name="Елипса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4" name="Елипса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8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4" name="Контейнер на съдържание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bg-BG" sz="1400"/>
            </a:lvl1pPr>
            <a:lvl2pPr>
              <a:lnSpc>
                <a:spcPct val="150000"/>
              </a:lnSpc>
              <a:spcBef>
                <a:spcPts val="0"/>
              </a:spcBef>
              <a:defRPr lang="bg-BG" sz="1200"/>
            </a:lvl2pPr>
            <a:lvl3pPr>
              <a:lnSpc>
                <a:spcPct val="150000"/>
              </a:lnSpc>
              <a:spcBef>
                <a:spcPts val="0"/>
              </a:spcBef>
              <a:defRPr lang="bg-BG" sz="1100"/>
            </a:lvl3pPr>
            <a:lvl4pPr>
              <a:lnSpc>
                <a:spcPct val="150000"/>
              </a:lnSpc>
              <a:spcBef>
                <a:spcPts val="0"/>
              </a:spcBef>
              <a:defRPr lang="bg-BG" sz="1050"/>
            </a:lvl4pPr>
            <a:lvl5pPr>
              <a:lnSpc>
                <a:spcPct val="150000"/>
              </a:lnSpc>
              <a:spcBef>
                <a:spcPts val="0"/>
              </a:spcBef>
              <a:defRPr lang="bg-BG" sz="1050"/>
            </a:lvl5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5" name="Контейнер за текст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8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6" name="Контейнер на съдържание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bg-BG" sz="1400"/>
            </a:lvl1pPr>
            <a:lvl2pPr>
              <a:lnSpc>
                <a:spcPct val="150000"/>
              </a:lnSpc>
              <a:spcBef>
                <a:spcPts val="0"/>
              </a:spcBef>
              <a:defRPr lang="bg-BG" sz="1200"/>
            </a:lvl2pPr>
            <a:lvl3pPr>
              <a:lnSpc>
                <a:spcPct val="150000"/>
              </a:lnSpc>
              <a:spcBef>
                <a:spcPts val="0"/>
              </a:spcBef>
              <a:defRPr lang="bg-BG" sz="1100"/>
            </a:lvl3pPr>
            <a:lvl4pPr>
              <a:lnSpc>
                <a:spcPct val="150000"/>
              </a:lnSpc>
              <a:spcBef>
                <a:spcPts val="0"/>
              </a:spcBef>
              <a:defRPr lang="bg-BG" sz="1050"/>
            </a:lvl4pPr>
            <a:lvl5pPr>
              <a:lnSpc>
                <a:spcPct val="150000"/>
              </a:lnSpc>
              <a:spcBef>
                <a:spcPts val="0"/>
              </a:spcBef>
              <a:defRPr lang="bg-BG" sz="1050"/>
            </a:lvl5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10" name="Заглавие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19" name="Контейнер за текст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21" name="Контейнер за долен колонтитул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23" name="Контейнер за номер на слайд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авоъгълник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17" name="Правоъгълник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8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4" name="Контейнер на съдържание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bg-BG" sz="1400"/>
            </a:lvl1pPr>
            <a:lvl2pPr>
              <a:lnSpc>
                <a:spcPct val="150000"/>
              </a:lnSpc>
              <a:spcBef>
                <a:spcPts val="0"/>
              </a:spcBef>
              <a:defRPr lang="bg-BG" sz="1200"/>
            </a:lvl2pPr>
            <a:lvl3pPr>
              <a:lnSpc>
                <a:spcPct val="150000"/>
              </a:lnSpc>
              <a:spcBef>
                <a:spcPts val="0"/>
              </a:spcBef>
              <a:defRPr lang="bg-BG" sz="1100"/>
            </a:lvl3pPr>
            <a:lvl4pPr>
              <a:lnSpc>
                <a:spcPct val="150000"/>
              </a:lnSpc>
              <a:spcBef>
                <a:spcPts val="0"/>
              </a:spcBef>
              <a:defRPr lang="bg-BG" sz="1050"/>
            </a:lvl4pPr>
            <a:lvl5pPr>
              <a:lnSpc>
                <a:spcPct val="150000"/>
              </a:lnSpc>
              <a:spcBef>
                <a:spcPts val="0"/>
              </a:spcBef>
              <a:defRPr lang="bg-BG" sz="1050"/>
            </a:lvl5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5" name="Контейнер за текст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8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6" name="Контейнер на съдържание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bg-BG" sz="1400"/>
            </a:lvl1pPr>
            <a:lvl2pPr>
              <a:lnSpc>
                <a:spcPct val="150000"/>
              </a:lnSpc>
              <a:spcBef>
                <a:spcPts val="0"/>
              </a:spcBef>
              <a:defRPr lang="bg-BG" sz="1200"/>
            </a:lvl2pPr>
            <a:lvl3pPr>
              <a:lnSpc>
                <a:spcPct val="150000"/>
              </a:lnSpc>
              <a:spcBef>
                <a:spcPts val="0"/>
              </a:spcBef>
              <a:defRPr lang="bg-BG" sz="1100"/>
            </a:lvl3pPr>
            <a:lvl4pPr>
              <a:lnSpc>
                <a:spcPct val="150000"/>
              </a:lnSpc>
              <a:spcBef>
                <a:spcPts val="0"/>
              </a:spcBef>
              <a:defRPr lang="bg-BG" sz="1050"/>
            </a:lvl4pPr>
            <a:lvl5pPr>
              <a:lnSpc>
                <a:spcPct val="150000"/>
              </a:lnSpc>
              <a:spcBef>
                <a:spcPts val="0"/>
              </a:spcBef>
              <a:defRPr lang="bg-BG" sz="1050"/>
            </a:lvl5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10" name="Заглавие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19" name="Контейнер за текст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21" name="Контейнер за долен колонтитул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23" name="Контейнер за номер на слайд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  <p:pic>
        <p:nvPicPr>
          <p:cNvPr id="2" name="Графика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Елипса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8" name="Контейнер за текст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bg-BG" sz="1800" b="0"/>
            </a:lvl1pPr>
            <a:lvl2pPr marL="457200" indent="0">
              <a:buNone/>
              <a:defRPr lang="bg-BG" sz="2000" b="1"/>
            </a:lvl2pPr>
            <a:lvl3pPr marL="914400" indent="0">
              <a:buNone/>
              <a:defRPr lang="bg-BG" sz="1800" b="1"/>
            </a:lvl3pPr>
            <a:lvl4pPr marL="1371600" indent="0">
              <a:buNone/>
              <a:defRPr lang="bg-BG" sz="1600" b="1"/>
            </a:lvl4pPr>
            <a:lvl5pPr marL="1828800" indent="0">
              <a:buNone/>
              <a:defRPr lang="bg-BG" sz="1600" b="1"/>
            </a:lvl5pPr>
            <a:lvl6pPr marL="2286000" indent="0">
              <a:buNone/>
              <a:defRPr lang="bg-BG" sz="1600" b="1"/>
            </a:lvl6pPr>
            <a:lvl7pPr marL="2743200" indent="0">
              <a:buNone/>
              <a:defRPr lang="bg-BG" sz="1600" b="1"/>
            </a:lvl7pPr>
            <a:lvl8pPr marL="3200400" indent="0">
              <a:buNone/>
              <a:defRPr lang="bg-BG" sz="1600" b="1"/>
            </a:lvl8pPr>
            <a:lvl9pPr marL="3657600" indent="0">
              <a:buNone/>
              <a:defRPr lang="bg-BG" sz="1600" b="1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9" name="Контейнер на съдържание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bg-BG" sz="1400"/>
            </a:lvl1pPr>
            <a:lvl2pPr>
              <a:lnSpc>
                <a:spcPct val="150000"/>
              </a:lnSpc>
              <a:spcBef>
                <a:spcPts val="0"/>
              </a:spcBef>
              <a:defRPr lang="bg-BG" sz="1200"/>
            </a:lvl2pPr>
            <a:lvl3pPr>
              <a:lnSpc>
                <a:spcPct val="150000"/>
              </a:lnSpc>
              <a:spcBef>
                <a:spcPts val="0"/>
              </a:spcBef>
              <a:defRPr lang="bg-BG" sz="1100"/>
            </a:lvl3pPr>
            <a:lvl4pPr>
              <a:lnSpc>
                <a:spcPct val="150000"/>
              </a:lnSpc>
              <a:spcBef>
                <a:spcPts val="0"/>
              </a:spcBef>
              <a:defRPr lang="bg-BG" sz="1050"/>
            </a:lvl4pPr>
            <a:lvl5pPr>
              <a:lnSpc>
                <a:spcPct val="150000"/>
              </a:lnSpc>
              <a:spcBef>
                <a:spcPts val="0"/>
              </a:spcBef>
              <a:defRPr lang="bg-BG" sz="1050"/>
            </a:lvl5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Графика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на съдържание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 rtlCol="0"/>
          <a:lstStyle>
            <a:lvl1pPr marL="0" indent="0">
              <a:buNone/>
              <a:defRPr lang="bg-BG" sz="1800"/>
            </a:lvl1pPr>
            <a:lvl2pPr marL="283464">
              <a:defRPr lang="bg-BG" sz="1800"/>
            </a:lvl2pPr>
            <a:lvl3pPr marL="566928">
              <a:defRPr lang="bg-BG" sz="1600"/>
            </a:lvl3pPr>
            <a:lvl4pPr marL="758952">
              <a:defRPr lang="bg-BG" sz="1400"/>
            </a:lvl4pPr>
            <a:lvl5pPr marL="1042416">
              <a:defRPr lang="bg-BG" sz="1400"/>
            </a:lvl5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7" name="Контейнер за текст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45" name="Графика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29" name="Елипса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pic>
        <p:nvPicPr>
          <p:cNvPr id="34" name="Графика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Елипса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38" name="Елипса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46" name="Контейнер за долен колонтитул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47" name="Контейнер за номер на слайд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лагодар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Графика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Елипса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52" name="Елипса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>
              <a:solidFill>
                <a:schemeClr val="accent4"/>
              </a:solidFill>
            </a:endParaRPr>
          </a:p>
        </p:txBody>
      </p:sp>
      <p:pic>
        <p:nvPicPr>
          <p:cNvPr id="72" name="Графика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Графика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Графика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Елипса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pic>
        <p:nvPicPr>
          <p:cNvPr id="26" name="Графика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Заглавие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rtlCol="0" anchor="b">
            <a:noAutofit/>
          </a:bodyPr>
          <a:lstStyle>
            <a:lvl1pPr>
              <a:defRPr lang="bg-BG" sz="6600"/>
            </a:lvl1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lang="bg-BG" sz="1800">
                <a:solidFill>
                  <a:schemeClr val="tx1"/>
                </a:solidFill>
              </a:defRPr>
            </a:lvl1pPr>
            <a:lvl2pPr marL="457200" indent="0">
              <a:buNone/>
              <a:defRPr lang="bg-BG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bg-BG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bg-BG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Контейнер за текст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6" name="Заглавие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22" name="Контейнер за долен колонтитул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23" name="Контейнер за номер на слайд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аз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Контейнер за текст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Контейнер за текст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3" name="Контейнер на съдържание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 rtlCol="0"/>
          <a:lstStyle>
            <a:lvl1pPr>
              <a:defRPr lang="bg-BG" sz="3200"/>
            </a:lvl1pPr>
            <a:lvl2pPr>
              <a:defRPr lang="bg-BG" sz="2800"/>
            </a:lvl2pPr>
            <a:lvl3pPr>
              <a:defRPr lang="bg-BG" sz="2400"/>
            </a:lvl3pPr>
            <a:lvl4pPr>
              <a:defRPr lang="bg-BG" sz="2000"/>
            </a:lvl4pPr>
            <a:lvl5pPr>
              <a:defRPr lang="bg-BG" sz="2000"/>
            </a:lvl5pPr>
            <a:lvl6pPr>
              <a:defRPr lang="bg-BG" sz="2000"/>
            </a:lvl6pPr>
            <a:lvl7pPr>
              <a:defRPr lang="bg-BG" sz="2000"/>
            </a:lvl7pPr>
            <a:lvl8pPr>
              <a:defRPr lang="bg-BG" sz="2000"/>
            </a:lvl8pPr>
            <a:lvl9pPr>
              <a:defRPr lang="bg-BG" sz="2000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4" name="Контейнер за текст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 rtlCol="0"/>
          <a:lstStyle>
            <a:lvl1pPr marL="0" indent="0">
              <a:buNone/>
              <a:defRPr lang="bg-BG" sz="1600"/>
            </a:lvl1pPr>
            <a:lvl2pPr marL="457200" indent="0">
              <a:buNone/>
              <a:defRPr lang="bg-BG" sz="1400"/>
            </a:lvl2pPr>
            <a:lvl3pPr marL="914400" indent="0">
              <a:buNone/>
              <a:defRPr lang="bg-BG" sz="1200"/>
            </a:lvl3pPr>
            <a:lvl4pPr marL="1371600" indent="0">
              <a:buNone/>
              <a:defRPr lang="bg-BG" sz="1000"/>
            </a:lvl4pPr>
            <a:lvl5pPr marL="1828800" indent="0">
              <a:buNone/>
              <a:defRPr lang="bg-BG" sz="1000"/>
            </a:lvl5pPr>
            <a:lvl6pPr marL="2286000" indent="0">
              <a:buNone/>
              <a:defRPr lang="bg-BG" sz="1000"/>
            </a:lvl6pPr>
            <a:lvl7pPr marL="2743200" indent="0">
              <a:buNone/>
              <a:defRPr lang="bg-BG" sz="1000"/>
            </a:lvl7pPr>
            <a:lvl8pPr marL="3200400" indent="0">
              <a:buNone/>
              <a:defRPr lang="bg-BG" sz="1000"/>
            </a:lvl8pPr>
            <a:lvl9pPr marL="3657600" indent="0">
              <a:buNone/>
              <a:defRPr lang="bg-BG" sz="1000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8" name="Заглавие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10" name="Контейнер за долен колонтитул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11" name="Контейнер за номер на слайд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Контейнер за текст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bg-BG" sz="3200" b="0">
                <a:noFill/>
              </a:defRPr>
            </a:lvl1pPr>
          </a:lstStyle>
          <a:p>
            <a:pPr lvl="0" rtl="0"/>
            <a:r>
              <a:rPr lang="bg-BG"/>
              <a:t>X</a:t>
            </a:r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 rtlCol="0"/>
          <a:lstStyle>
            <a:lvl1pPr marL="0" indent="0">
              <a:buNone/>
              <a:defRPr lang="bg-BG" sz="3200"/>
            </a:lvl1pPr>
            <a:lvl2pPr marL="457200" indent="0">
              <a:buNone/>
              <a:defRPr lang="bg-BG" sz="2800"/>
            </a:lvl2pPr>
            <a:lvl3pPr marL="914400" indent="0">
              <a:buNone/>
              <a:defRPr lang="bg-BG" sz="2400"/>
            </a:lvl3pPr>
            <a:lvl4pPr marL="1371600" indent="0">
              <a:buNone/>
              <a:defRPr lang="bg-BG" sz="2000"/>
            </a:lvl4pPr>
            <a:lvl5pPr marL="1828800" indent="0">
              <a:buNone/>
              <a:defRPr lang="bg-BG" sz="2000"/>
            </a:lvl5pPr>
            <a:lvl6pPr marL="2286000" indent="0">
              <a:buNone/>
              <a:defRPr lang="bg-BG" sz="2000"/>
            </a:lvl6pPr>
            <a:lvl7pPr marL="2743200" indent="0">
              <a:buNone/>
              <a:defRPr lang="bg-BG" sz="2000"/>
            </a:lvl7pPr>
            <a:lvl8pPr marL="3200400" indent="0">
              <a:buNone/>
              <a:defRPr lang="bg-BG" sz="2000"/>
            </a:lvl8pPr>
            <a:lvl9pPr marL="3657600" indent="0">
              <a:buNone/>
              <a:defRPr lang="bg-BG" sz="2000"/>
            </a:lvl9pPr>
          </a:lstStyle>
          <a:p>
            <a:pPr rtl="0"/>
            <a:endParaRPr lang="bg-BG" dirty="0"/>
          </a:p>
        </p:txBody>
      </p:sp>
      <p:sp>
        <p:nvSpPr>
          <p:cNvPr id="4" name="Контейнер за текст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bg-BG" sz="1600"/>
            </a:lvl1pPr>
            <a:lvl2pPr marL="457200" indent="0">
              <a:buNone/>
              <a:defRPr lang="bg-BG" sz="1400"/>
            </a:lvl2pPr>
            <a:lvl3pPr marL="914400" indent="0">
              <a:buNone/>
              <a:defRPr lang="bg-BG" sz="1200"/>
            </a:lvl3pPr>
            <a:lvl4pPr marL="1371600" indent="0">
              <a:buNone/>
              <a:defRPr lang="bg-BG" sz="1000"/>
            </a:lvl4pPr>
            <a:lvl5pPr marL="1828800" indent="0">
              <a:buNone/>
              <a:defRPr lang="bg-BG" sz="1000"/>
            </a:lvl5pPr>
            <a:lvl6pPr marL="2286000" indent="0">
              <a:buNone/>
              <a:defRPr lang="bg-BG" sz="1000"/>
            </a:lvl6pPr>
            <a:lvl7pPr marL="2743200" indent="0">
              <a:buNone/>
              <a:defRPr lang="bg-BG" sz="1000"/>
            </a:lvl7pPr>
            <a:lvl8pPr marL="3200400" indent="0">
              <a:buNone/>
              <a:defRPr lang="bg-BG" sz="1000"/>
            </a:lvl8pPr>
            <a:lvl9pPr marL="3657600" indent="0">
              <a:buNone/>
              <a:defRPr lang="bg-BG" sz="1000"/>
            </a:lvl9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</p:txBody>
      </p:sp>
      <p:sp>
        <p:nvSpPr>
          <p:cNvPr id="8" name="Контейнер за долен колонтитул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9" name="Контейнер за номер на слайд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  <p:sp>
        <p:nvSpPr>
          <p:cNvPr id="10" name="Заглавие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bg-BG"/>
            </a:defPPr>
          </a:lstStyle>
          <a:p>
            <a:pPr lvl="0" rtl="0"/>
            <a:r>
              <a:rPr lang="bg-BG"/>
              <a:t>Щракнете, за да редактирате стилове на текст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bg-BG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bg-BG" dirty="0"/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bg-BG" sz="3200">
                <a:solidFill>
                  <a:schemeClr val="bg2"/>
                </a:solidFill>
              </a:defRPr>
            </a:lvl1pPr>
          </a:lstStyle>
          <a:p>
            <a:pPr rtl="0"/>
            <a:fld id="{CC43B8D3-9A08-F84C-9DD4-44948BA52D4B}" type="slidenum">
              <a:rPr lang="bg-BG" smtClean="0"/>
              <a:pPr rtl="0"/>
              <a:t>‹#›</a:t>
            </a:fld>
            <a:endParaRPr lang="bg-BG" dirty="0"/>
          </a:p>
        </p:txBody>
      </p:sp>
      <p:sp>
        <p:nvSpPr>
          <p:cNvPr id="25" name="Правоъгълник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sp>
        <p:nvSpPr>
          <p:cNvPr id="26" name="Правоъгълник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bg-BG"/>
            </a:defPPr>
          </a:lstStyle>
          <a:p>
            <a:pPr algn="ctr" rtl="0"/>
            <a:endParaRPr lang="bg-BG" dirty="0"/>
          </a:p>
        </p:txBody>
      </p:sp>
      <p:cxnSp>
        <p:nvCxnSpPr>
          <p:cNvPr id="28" name="Право съединение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Графика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Право съединение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Контейнер за заглавие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bg-BG"/>
            </a:defPPr>
          </a:lstStyle>
          <a:p>
            <a:pPr rtl="0"/>
            <a:r>
              <a:rPr lang="bg-BG"/>
              <a:t>Щракнете, за да редактирате стила на заглавието в образеца</a:t>
            </a:r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bg-BG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lang="bg-BG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bg-BG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bg-BG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bg-BG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r>
              <a:rPr lang="bg-BG"/>
              <a:t>Проект на ардуино</a:t>
            </a:r>
            <a:endParaRPr lang="bg-BG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A57451B7-2A25-8813-BC77-07DE3529F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4116969"/>
            <a:ext cx="5943600" cy="52818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>
            <a:defPPr>
              <a:defRPr lang="bg-BG"/>
            </a:defPPr>
          </a:lstStyle>
          <a:p>
            <a:r>
              <a:rPr lang="bg-BG" dirty="0"/>
              <a:t>Изготвено от: Мартин Куцов, Сашо </a:t>
            </a:r>
            <a:r>
              <a:rPr lang="bg-BG"/>
              <a:t>Аговски, Стилян Пинев</a:t>
            </a:r>
          </a:p>
        </p:txBody>
      </p:sp>
    </p:spTree>
    <p:extLst>
      <p:ext uri="{BB962C8B-B14F-4D97-AF65-F5344CB8AC3E}">
        <p14:creationId xmlns:p14="http://schemas.microsoft.com/office/powerpoint/2010/main" val="2827593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BFD6DF6-5B25-79AF-09F2-0008B7DD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215" y="-1006"/>
            <a:ext cx="8762246" cy="1137344"/>
          </a:xfrm>
        </p:spPr>
        <p:txBody>
          <a:bodyPr rtlCol="0"/>
          <a:lstStyle>
            <a:defPPr>
              <a:defRPr lang="bg-BG"/>
            </a:defPPr>
          </a:lstStyle>
          <a:p>
            <a:r>
              <a:rPr lang="bg-BG"/>
              <a:t>Съдържание</a:t>
            </a:r>
            <a:endParaRPr lang="bg-BG" dirty="0"/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0FA49DED-F98B-AA29-6402-0A09C4EFE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8759" y="1103629"/>
            <a:ext cx="8659368" cy="749808"/>
          </a:xfrm>
        </p:spPr>
        <p:txBody>
          <a:bodyPr rtlCol="0"/>
          <a:lstStyle>
            <a:defPPr>
              <a:defRPr lang="bg-BG"/>
            </a:defPPr>
          </a:lstStyle>
          <a:p>
            <a:r>
              <a:rPr lang="bg-BG"/>
              <a:t>Описание на проекта</a:t>
            </a:r>
            <a:endParaRPr lang="bg-BG" dirty="0"/>
          </a:p>
        </p:txBody>
      </p:sp>
      <p:sp>
        <p:nvSpPr>
          <p:cNvPr id="48" name="Контейнер за текст 47">
            <a:extLst>
              <a:ext uri="{FF2B5EF4-FFF2-40B4-BE49-F238E27FC236}">
                <a16:creationId xmlns:a16="http://schemas.microsoft.com/office/drawing/2014/main" id="{B79EAB77-EA1B-845C-B39D-F4147B3C0E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99591" y="998801"/>
            <a:ext cx="960120" cy="960120"/>
          </a:xfrm>
        </p:spPr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3</a:t>
            </a:r>
          </a:p>
        </p:txBody>
      </p:sp>
      <p:sp>
        <p:nvSpPr>
          <p:cNvPr id="4" name="Контейнер за текст 3">
            <a:extLst>
              <a:ext uri="{FF2B5EF4-FFF2-40B4-BE49-F238E27FC236}">
                <a16:creationId xmlns:a16="http://schemas.microsoft.com/office/drawing/2014/main" id="{EBBAF7CB-A8CE-582C-C1DB-E6D72AC69A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066945"/>
            <a:ext cx="8659368" cy="749808"/>
          </a:xfrm>
        </p:spPr>
        <p:txBody>
          <a:bodyPr rtlCol="0"/>
          <a:lstStyle>
            <a:defPPr>
              <a:defRPr lang="bg-BG"/>
            </a:defPPr>
          </a:lstStyle>
          <a:p>
            <a:r>
              <a:rPr lang="bg-BG"/>
              <a:t>Блокова схема</a:t>
            </a:r>
            <a:endParaRPr lang="bg-BG" dirty="0"/>
          </a:p>
        </p:txBody>
      </p:sp>
      <p:sp>
        <p:nvSpPr>
          <p:cNvPr id="49" name="Контейнер за текст 48">
            <a:extLst>
              <a:ext uri="{FF2B5EF4-FFF2-40B4-BE49-F238E27FC236}">
                <a16:creationId xmlns:a16="http://schemas.microsoft.com/office/drawing/2014/main" id="{9AD6ED5E-6255-A10D-1B61-1C38A65A0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99591" y="1959503"/>
            <a:ext cx="960120" cy="960120"/>
          </a:xfrm>
        </p:spPr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4</a:t>
            </a:r>
          </a:p>
        </p:txBody>
      </p:sp>
      <p:sp>
        <p:nvSpPr>
          <p:cNvPr id="5" name="Контейнер за текст 4">
            <a:extLst>
              <a:ext uri="{FF2B5EF4-FFF2-40B4-BE49-F238E27FC236}">
                <a16:creationId xmlns:a16="http://schemas.microsoft.com/office/drawing/2014/main" id="{21C403DC-3521-3A53-9255-0D192EBD4F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050215"/>
            <a:ext cx="8659368" cy="749808"/>
          </a:xfrm>
        </p:spPr>
        <p:txBody>
          <a:bodyPr rtlCol="0"/>
          <a:lstStyle>
            <a:defPPr>
              <a:defRPr lang="bg-BG"/>
            </a:defPPr>
          </a:lstStyle>
          <a:p>
            <a:r>
              <a:rPr lang="bg-BG"/>
              <a:t>Електрическа схема</a:t>
            </a:r>
            <a:endParaRPr lang="bg-BG" dirty="0"/>
          </a:p>
        </p:txBody>
      </p:sp>
      <p:sp>
        <p:nvSpPr>
          <p:cNvPr id="50" name="Контейнер за текст 49">
            <a:extLst>
              <a:ext uri="{FF2B5EF4-FFF2-40B4-BE49-F238E27FC236}">
                <a16:creationId xmlns:a16="http://schemas.microsoft.com/office/drawing/2014/main" id="{725D92A4-EE14-BE47-EFF6-F0FD3F4AE6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99591" y="2928060"/>
            <a:ext cx="960120" cy="960120"/>
          </a:xfrm>
        </p:spPr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5</a:t>
            </a:r>
          </a:p>
        </p:txBody>
      </p:sp>
      <p:sp>
        <p:nvSpPr>
          <p:cNvPr id="6" name="Контейнер за текст 5">
            <a:extLst>
              <a:ext uri="{FF2B5EF4-FFF2-40B4-BE49-F238E27FC236}">
                <a16:creationId xmlns:a16="http://schemas.microsoft.com/office/drawing/2014/main" id="{01F6EA68-2AA8-DF86-685C-EC38431277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994208"/>
            <a:ext cx="8659368" cy="749808"/>
          </a:xfrm>
        </p:spPr>
        <p:txBody>
          <a:bodyPr rtlCol="0"/>
          <a:lstStyle>
            <a:defPPr>
              <a:defRPr lang="bg-BG"/>
            </a:defPPr>
          </a:lstStyle>
          <a:p>
            <a:r>
              <a:rPr lang="bg-BG"/>
              <a:t>Списък съставни части</a:t>
            </a:r>
            <a:endParaRPr lang="bg-BG" dirty="0"/>
          </a:p>
        </p:txBody>
      </p:sp>
      <p:sp>
        <p:nvSpPr>
          <p:cNvPr id="51" name="Контейнер за текст 50">
            <a:extLst>
              <a:ext uri="{FF2B5EF4-FFF2-40B4-BE49-F238E27FC236}">
                <a16:creationId xmlns:a16="http://schemas.microsoft.com/office/drawing/2014/main" id="{7FFFF704-D039-7DC7-A34E-489FEE26CD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99591" y="3888762"/>
            <a:ext cx="960120" cy="960120"/>
          </a:xfrm>
        </p:spPr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6</a:t>
            </a:r>
            <a:endParaRPr lang="bg-BG" dirty="0"/>
          </a:p>
        </p:txBody>
      </p:sp>
      <p:sp>
        <p:nvSpPr>
          <p:cNvPr id="7" name="Контейнер за текст 6">
            <a:extLst>
              <a:ext uri="{FF2B5EF4-FFF2-40B4-BE49-F238E27FC236}">
                <a16:creationId xmlns:a16="http://schemas.microsoft.com/office/drawing/2014/main" id="{A2545FBC-2F5C-8772-F385-63E1035583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4961767"/>
            <a:ext cx="8659368" cy="749808"/>
          </a:xfrm>
        </p:spPr>
        <p:txBody>
          <a:bodyPr rtlCol="0"/>
          <a:lstStyle>
            <a:defPPr>
              <a:defRPr lang="bg-BG"/>
            </a:defPPr>
          </a:lstStyle>
          <a:p>
            <a:r>
              <a:rPr lang="bg-BG" sz="2400"/>
              <a:t>Сорс код - описание на функционалността</a:t>
            </a:r>
          </a:p>
        </p:txBody>
      </p:sp>
      <p:sp>
        <p:nvSpPr>
          <p:cNvPr id="52" name="Контейнер за текст 51">
            <a:extLst>
              <a:ext uri="{FF2B5EF4-FFF2-40B4-BE49-F238E27FC236}">
                <a16:creationId xmlns:a16="http://schemas.microsoft.com/office/drawing/2014/main" id="{B834A08F-B9C1-B3EF-25F5-A69D401C8B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99591" y="4849464"/>
            <a:ext cx="960120" cy="960120"/>
          </a:xfrm>
        </p:spPr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7</a:t>
            </a:r>
            <a:endParaRPr lang="bg-BG" dirty="0"/>
          </a:p>
        </p:txBody>
      </p:sp>
      <p:sp>
        <p:nvSpPr>
          <p:cNvPr id="25" name="Контейнер за текст 2">
            <a:extLst>
              <a:ext uri="{FF2B5EF4-FFF2-40B4-BE49-F238E27FC236}">
                <a16:creationId xmlns:a16="http://schemas.microsoft.com/office/drawing/2014/main" id="{317C120C-CD3D-7C13-787C-379F61E48D76}"/>
              </a:ext>
            </a:extLst>
          </p:cNvPr>
          <p:cNvSpPr txBox="1">
            <a:spLocks/>
          </p:cNvSpPr>
          <p:nvPr/>
        </p:nvSpPr>
        <p:spPr>
          <a:xfrm>
            <a:off x="-4713" y="5918054"/>
            <a:ext cx="8659368" cy="7498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713232" tIns="45720" rIns="91440" bIns="45720" rtlCol="0" anchor="ctr">
            <a:noAutofit/>
          </a:bodyPr>
          <a:lstStyle>
            <a:defPPr>
              <a:defRPr lang="bg-BG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bg-BG" sz="4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/>
              <a:t>Заключение</a:t>
            </a:r>
            <a:endParaRPr lang="bg-BG" dirty="0"/>
          </a:p>
        </p:txBody>
      </p:sp>
      <p:sp>
        <p:nvSpPr>
          <p:cNvPr id="27" name="Контейнер за текст 51">
            <a:extLst>
              <a:ext uri="{FF2B5EF4-FFF2-40B4-BE49-F238E27FC236}">
                <a16:creationId xmlns:a16="http://schemas.microsoft.com/office/drawing/2014/main" id="{3A6B2C33-2D8A-24C7-489F-D4BA134D2012}"/>
              </a:ext>
            </a:extLst>
          </p:cNvPr>
          <p:cNvSpPr txBox="1">
            <a:spLocks/>
          </p:cNvSpPr>
          <p:nvPr/>
        </p:nvSpPr>
        <p:spPr>
          <a:xfrm>
            <a:off x="8202734" y="5818854"/>
            <a:ext cx="960120" cy="9601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bg2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bg-BG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bg-BG" sz="4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bg-BG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/>
              <a:t>9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52850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лавие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r>
              <a:rPr lang="bg-BG"/>
              <a:t>Описание на проекта</a:t>
            </a:r>
            <a:endParaRPr lang="bg-BG" dirty="0"/>
          </a:p>
        </p:txBody>
      </p:sp>
      <p:sp>
        <p:nvSpPr>
          <p:cNvPr id="2" name="Контейнер на съдържание 1">
            <a:extLst>
              <a:ext uri="{FF2B5EF4-FFF2-40B4-BE49-F238E27FC236}">
                <a16:creationId xmlns:a16="http://schemas.microsoft.com/office/drawing/2014/main" id="{2BA91497-60EB-6CC6-BE1A-11323E8A9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>
            <a:defPPr>
              <a:defRPr lang="bg-BG"/>
            </a:defPPr>
          </a:lstStyle>
          <a:p>
            <a:pPr indent="457200" algn="just"/>
            <a:r>
              <a:rPr lang="bg-BG" dirty="0">
                <a:ea typeface="+mn-lt"/>
                <a:cs typeface="+mn-lt"/>
              </a:rPr>
              <a:t>Проектът представлява симулация на светофар, реализирана с помощта на </a:t>
            </a:r>
            <a:r>
              <a:rPr lang="bg-BG" dirty="0" err="1">
                <a:ea typeface="+mn-lt"/>
                <a:cs typeface="+mn-lt"/>
              </a:rPr>
              <a:t>Arduino</a:t>
            </a:r>
            <a:r>
              <a:rPr lang="bg-BG" dirty="0">
                <a:ea typeface="+mn-lt"/>
                <a:cs typeface="+mn-lt"/>
              </a:rPr>
              <a:t> платка. Използват се три </a:t>
            </a:r>
            <a:r>
              <a:rPr lang="bg-BG" dirty="0" err="1">
                <a:ea typeface="+mn-lt"/>
                <a:cs typeface="+mn-lt"/>
              </a:rPr>
              <a:t>светодиода</a:t>
            </a:r>
            <a:r>
              <a:rPr lang="bg-BG" dirty="0">
                <a:ea typeface="+mn-lt"/>
                <a:cs typeface="+mn-lt"/>
              </a:rPr>
              <a:t> (LED) – червен, жълт и зелен, които имитират реалното поведение на светофар.</a:t>
            </a:r>
            <a:endParaRPr lang="bg-BG" dirty="0"/>
          </a:p>
          <a:p>
            <a:pPr indent="457200" algn="just"/>
            <a:endParaRPr lang="bg-BG" dirty="0">
              <a:ea typeface="+mn-lt"/>
              <a:cs typeface="+mn-lt"/>
            </a:endParaRPr>
          </a:p>
          <a:p>
            <a:pPr indent="457200" algn="just"/>
            <a:r>
              <a:rPr lang="bg-BG" dirty="0">
                <a:ea typeface="+mn-lt"/>
                <a:cs typeface="+mn-lt"/>
              </a:rPr>
              <a:t>Всеки </a:t>
            </a:r>
            <a:r>
              <a:rPr lang="bg-BG" dirty="0" err="1">
                <a:ea typeface="+mn-lt"/>
                <a:cs typeface="+mn-lt"/>
              </a:rPr>
              <a:t>светодиод</a:t>
            </a:r>
            <a:r>
              <a:rPr lang="bg-BG" dirty="0">
                <a:ea typeface="+mn-lt"/>
                <a:cs typeface="+mn-lt"/>
              </a:rPr>
              <a:t> е свързан към различен цифров пин на </a:t>
            </a:r>
            <a:r>
              <a:rPr lang="bg-BG" dirty="0" err="1">
                <a:ea typeface="+mn-lt"/>
                <a:cs typeface="+mn-lt"/>
              </a:rPr>
              <a:t>Arduino</a:t>
            </a:r>
            <a:r>
              <a:rPr lang="bg-BG" dirty="0">
                <a:ea typeface="+mn-lt"/>
                <a:cs typeface="+mn-lt"/>
              </a:rPr>
              <a:t> (пинове 9, 8 и 7), като към тях има последователно свързани резистори за ограничаване на тока. Чрез програмния код се управлява включването и изключването на </a:t>
            </a:r>
            <a:r>
              <a:rPr lang="bg-BG" dirty="0" err="1">
                <a:ea typeface="+mn-lt"/>
                <a:cs typeface="+mn-lt"/>
              </a:rPr>
              <a:t>светодиодите</a:t>
            </a:r>
            <a:r>
              <a:rPr lang="bg-BG" dirty="0">
                <a:ea typeface="+mn-lt"/>
                <a:cs typeface="+mn-lt"/>
              </a:rPr>
              <a:t> в определена последователност и с конкретни времеви интервали.</a:t>
            </a:r>
            <a:endParaRPr lang="bg-BG" dirty="0"/>
          </a:p>
          <a:p>
            <a:pPr indent="457200" algn="just"/>
            <a:endParaRPr lang="bg-BG" dirty="0">
              <a:ea typeface="+mn-lt"/>
              <a:cs typeface="+mn-lt"/>
            </a:endParaRPr>
          </a:p>
          <a:p>
            <a:pPr indent="457200" algn="just"/>
            <a:r>
              <a:rPr lang="bg-BG" dirty="0">
                <a:ea typeface="+mn-lt"/>
                <a:cs typeface="+mn-lt"/>
              </a:rPr>
              <a:t>Проектът има за цел да демонстрира основни принципи на работа с </a:t>
            </a:r>
            <a:r>
              <a:rPr lang="bg-BG" dirty="0" err="1">
                <a:ea typeface="+mn-lt"/>
                <a:cs typeface="+mn-lt"/>
              </a:rPr>
              <a:t>Arduino</a:t>
            </a:r>
            <a:r>
              <a:rPr lang="bg-BG" dirty="0">
                <a:ea typeface="+mn-lt"/>
                <a:cs typeface="+mn-lt"/>
              </a:rPr>
              <a:t> – управление на изходи, използване на функции като </a:t>
            </a:r>
            <a:r>
              <a:rPr lang="bg-BG" dirty="0" err="1">
                <a:latin typeface="Arial Black"/>
              </a:rPr>
              <a:t>digitalWrite</a:t>
            </a:r>
            <a:r>
              <a:rPr lang="bg-BG" dirty="0">
                <a:latin typeface="Arial Black"/>
              </a:rPr>
              <a:t>()</a:t>
            </a:r>
            <a:r>
              <a:rPr lang="bg-BG" dirty="0">
                <a:ea typeface="+mn-lt"/>
                <a:cs typeface="+mn-lt"/>
              </a:rPr>
              <a:t> и </a:t>
            </a:r>
            <a:r>
              <a:rPr lang="bg-BG" dirty="0" err="1">
                <a:latin typeface="Arial Black"/>
              </a:rPr>
              <a:t>delay</a:t>
            </a:r>
            <a:r>
              <a:rPr lang="bg-BG" dirty="0">
                <a:latin typeface="Arial Black"/>
              </a:rPr>
              <a:t>()</a:t>
            </a:r>
            <a:r>
              <a:rPr lang="bg-BG" dirty="0">
                <a:ea typeface="+mn-lt"/>
                <a:cs typeface="+mn-lt"/>
              </a:rPr>
              <a:t>, както и създаване на логическа последователност.</a:t>
            </a:r>
            <a:endParaRPr lang="bg-BG" dirty="0"/>
          </a:p>
          <a:p>
            <a:pPr algn="just"/>
            <a:endParaRPr lang="bg-BG" dirty="0"/>
          </a:p>
        </p:txBody>
      </p:sp>
      <p:sp>
        <p:nvSpPr>
          <p:cNvPr id="25" name="Контейнер за текст 24">
            <a:extLst>
              <a:ext uri="{FF2B5EF4-FFF2-40B4-BE49-F238E27FC236}">
                <a16:creationId xmlns:a16="http://schemas.microsoft.com/office/drawing/2014/main" id="{409EE273-65DC-EBC2-149C-7BB5726CE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3</a:t>
            </a:r>
          </a:p>
        </p:txBody>
      </p:sp>
      <p:sp>
        <p:nvSpPr>
          <p:cNvPr id="27" name="Контейнер за номер на слайд 26">
            <a:extLst>
              <a:ext uri="{FF2B5EF4-FFF2-40B4-BE49-F238E27FC236}">
                <a16:creationId xmlns:a16="http://schemas.microsoft.com/office/drawing/2014/main" id="{900E35B6-58C6-ABFD-1333-AA1B7702D1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/>
              <a:t>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43223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E4EC4F1E-7140-4467-B8E1-7FD63C946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Контейнер за номер на слайд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651903" y="809244"/>
            <a:ext cx="941832" cy="621792"/>
          </a:xfrm>
        </p:spPr>
        <p:txBody>
          <a:bodyPr rtlCol="0" anchor="ctr">
            <a:normAutofit/>
          </a:bodyPr>
          <a:lstStyle>
            <a:defPPr>
              <a:defRPr lang="bg-BG"/>
            </a:defPPr>
          </a:lstStyle>
          <a:p>
            <a:pPr rtl="0">
              <a:spcAft>
                <a:spcPts val="600"/>
              </a:spcAft>
            </a:pPr>
            <a:fld id="{CC43B8D3-9A08-F84C-9DD4-44948BA52D4B}" type="slidenum">
              <a:rPr lang="bg-BG" smtClean="0"/>
              <a:pPr rtl="0">
                <a:spcAft>
                  <a:spcPts val="600"/>
                </a:spcAft>
              </a:pPr>
              <a:t>4</a:t>
            </a:fld>
            <a:endParaRPr lang="bg-BG"/>
          </a:p>
        </p:txBody>
      </p:sp>
      <p:sp>
        <p:nvSpPr>
          <p:cNvPr id="5" name="Заглавие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</p:spPr>
        <p:txBody>
          <a:bodyPr rtlCol="0" anchor="ctr">
            <a:normAutofit/>
          </a:bodyPr>
          <a:lstStyle>
            <a:defPPr>
              <a:defRPr lang="bg-BG"/>
            </a:defPPr>
          </a:lstStyle>
          <a:p>
            <a:r>
              <a:rPr lang="bg-BG"/>
              <a:t>Блокова схема </a:t>
            </a:r>
          </a:p>
        </p:txBody>
      </p:sp>
      <p:pic>
        <p:nvPicPr>
          <p:cNvPr id="7" name="Контейнер за картина 6" descr="Картина, която съдържа текст, диаграма, Правоъгълник, линия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45BE144E-1D64-2BE9-7D26-39C87D80258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175" r="1175"/>
          <a:stretch>
            <a:fillRect/>
          </a:stretch>
        </p:blipFill>
        <p:spPr>
          <a:xfrm>
            <a:off x="2697480" y="1643634"/>
            <a:ext cx="6172200" cy="4873625"/>
          </a:xfrm>
        </p:spPr>
      </p:pic>
    </p:spTree>
    <p:extLst>
      <p:ext uri="{BB962C8B-B14F-4D97-AF65-F5344CB8AC3E}">
        <p14:creationId xmlns:p14="http://schemas.microsoft.com/office/powerpoint/2010/main" val="2461847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лавие 10">
            <a:extLst>
              <a:ext uri="{FF2B5EF4-FFF2-40B4-BE49-F238E27FC236}">
                <a16:creationId xmlns:a16="http://schemas.microsoft.com/office/drawing/2014/main" id="{CFC65B13-DBA7-CB3E-F251-880122C1E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</p:spPr>
        <p:txBody>
          <a:bodyPr rtlCol="0" anchor="ctr">
            <a:normAutofit/>
          </a:bodyPr>
          <a:lstStyle>
            <a:defPPr>
              <a:defRPr lang="bg-BG"/>
            </a:defPPr>
          </a:lstStyle>
          <a:p>
            <a:r>
              <a:rPr lang="bg-BG"/>
              <a:t>Електрическа схема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AF9A0882-A704-1260-45E3-3EA3D89D06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Контейнер за номер на слайд 3">
            <a:extLst>
              <a:ext uri="{FF2B5EF4-FFF2-40B4-BE49-F238E27FC236}">
                <a16:creationId xmlns:a16="http://schemas.microsoft.com/office/drawing/2014/main" id="{5701003A-1258-C8AB-E292-CE0E5E612B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 rtlCol="0" anchor="ctr">
            <a:normAutofit/>
          </a:bodyPr>
          <a:lstStyle>
            <a:defPPr>
              <a:defRPr lang="bg-BG"/>
            </a:defPPr>
          </a:lstStyle>
          <a:p>
            <a:pPr rtl="0">
              <a:spcAft>
                <a:spcPts val="600"/>
              </a:spcAft>
            </a:pPr>
            <a:fld id="{CC43B8D3-9A08-F84C-9DD4-44948BA52D4B}" type="slidenum">
              <a:rPr lang="bg-BG" smtClean="0"/>
              <a:pPr rtl="0">
                <a:spcAft>
                  <a:spcPts val="600"/>
                </a:spcAft>
              </a:pPr>
              <a:t>5</a:t>
            </a:fld>
            <a:endParaRPr lang="bg-BG"/>
          </a:p>
        </p:txBody>
      </p:sp>
      <p:pic>
        <p:nvPicPr>
          <p:cNvPr id="6" name="Контейнер за съдържание 5" descr="Картина, която съдържа текст, електроника, Електроинженерство, Елемент от електрическа верига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0D8D4018-03C3-95FF-D9F4-4D81A0DCD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6226" y="1954746"/>
            <a:ext cx="9799547" cy="4546637"/>
          </a:xfrm>
        </p:spPr>
      </p:pic>
    </p:spTree>
    <p:extLst>
      <p:ext uri="{BB962C8B-B14F-4D97-AF65-F5344CB8AC3E}">
        <p14:creationId xmlns:p14="http://schemas.microsoft.com/office/powerpoint/2010/main" val="1514052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id="{87264F79-95B4-7ADF-2A8F-BEF6FEFD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r>
              <a:rPr lang="bg-BG"/>
              <a:t>Списък съставни части</a:t>
            </a:r>
            <a:endParaRPr lang="bg-BG" dirty="0"/>
          </a:p>
        </p:txBody>
      </p:sp>
      <p:sp>
        <p:nvSpPr>
          <p:cNvPr id="45" name="Контейнер за текст 44">
            <a:extLst>
              <a:ext uri="{FF2B5EF4-FFF2-40B4-BE49-F238E27FC236}">
                <a16:creationId xmlns:a16="http://schemas.microsoft.com/office/drawing/2014/main" id="{69F5F0D3-B131-4CB7-0B2A-26B4F86A2B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/>
          </a:p>
        </p:txBody>
      </p:sp>
      <p:sp>
        <p:nvSpPr>
          <p:cNvPr id="42" name="Контейнер за номер на слайд 41">
            <a:extLst>
              <a:ext uri="{FF2B5EF4-FFF2-40B4-BE49-F238E27FC236}">
                <a16:creationId xmlns:a16="http://schemas.microsoft.com/office/drawing/2014/main" id="{019C8FDA-6404-F188-D702-F6E466BD3C8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r>
              <a:rPr lang="bg-BG"/>
              <a:t>6</a:t>
            </a:r>
            <a:endParaRPr lang="bg-BG" dirty="0"/>
          </a:p>
        </p:txBody>
      </p:sp>
      <p:pic>
        <p:nvPicPr>
          <p:cNvPr id="33" name="Картина 32" descr="Картина, която съдържа текст, екранна снимка, Шрифт, номер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D76DFB6D-65D5-A083-8FAF-8B27E4AA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38080"/>
            <a:ext cx="1082040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46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лавие 5">
            <a:extLst>
              <a:ext uri="{FF2B5EF4-FFF2-40B4-BE49-F238E27FC236}">
                <a16:creationId xmlns:a16="http://schemas.microsoft.com/office/drawing/2014/main" id="{9B8D1C32-CEDB-F6E2-A01E-72AE1A1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r>
              <a:rPr lang="bg-BG" sz="2800"/>
              <a:t>Сорс код - описание на функционалността</a:t>
            </a:r>
          </a:p>
        </p:txBody>
      </p:sp>
      <p:sp>
        <p:nvSpPr>
          <p:cNvPr id="20" name="Контейнер за текст 19">
            <a:extLst>
              <a:ext uri="{FF2B5EF4-FFF2-40B4-BE49-F238E27FC236}">
                <a16:creationId xmlns:a16="http://schemas.microsoft.com/office/drawing/2014/main" id="{7D61BAD3-11BF-AA74-F4B3-2ABC02077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11" name="Контейнер за номер на слайд 10">
            <a:extLst>
              <a:ext uri="{FF2B5EF4-FFF2-40B4-BE49-F238E27FC236}">
                <a16:creationId xmlns:a16="http://schemas.microsoft.com/office/drawing/2014/main" id="{517F181E-B3F5-EEEB-086C-37ADB36790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7</a:t>
            </a:fld>
            <a:endParaRPr lang="bg-BG" dirty="0"/>
          </a:p>
        </p:txBody>
      </p:sp>
      <p:pic>
        <p:nvPicPr>
          <p:cNvPr id="21" name="Контейнер за съдържание 20" descr="Картина, която съдържа текст, Шрифт, екранна снимка, номер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F4394FD8-9DCA-CD86-5877-42727D57554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804917" y="1838384"/>
            <a:ext cx="2264150" cy="4076432"/>
          </a:xfrm>
          <a:prstGeom prst="rect">
            <a:avLst/>
          </a:prstGeom>
        </p:spPr>
      </p:pic>
      <p:pic>
        <p:nvPicPr>
          <p:cNvPr id="19" name="Контейнер за съдържание 18" descr="Картина, която съдържа текст, Шрифт, екранна снимка, номер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28988173-2913-6784-190F-0B48CFF32F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592984" y="1834229"/>
            <a:ext cx="2253952" cy="406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09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92CC5-905D-01B4-FBE1-4C58FD653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лавие 5">
            <a:extLst>
              <a:ext uri="{FF2B5EF4-FFF2-40B4-BE49-F238E27FC236}">
                <a16:creationId xmlns:a16="http://schemas.microsoft.com/office/drawing/2014/main" id="{D164793A-9A57-95B4-EF22-CC5BA935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bg-BG"/>
            </a:defPPr>
          </a:lstStyle>
          <a:p>
            <a:r>
              <a:rPr lang="bg-BG" sz="2800"/>
              <a:t>Сорс код - описание на функционалността</a:t>
            </a:r>
          </a:p>
        </p:txBody>
      </p:sp>
      <p:sp>
        <p:nvSpPr>
          <p:cNvPr id="20" name="Контейнер за текст 19">
            <a:extLst>
              <a:ext uri="{FF2B5EF4-FFF2-40B4-BE49-F238E27FC236}">
                <a16:creationId xmlns:a16="http://schemas.microsoft.com/office/drawing/2014/main" id="{C549EEAC-AE43-82BD-920F-0A7C96DE8D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endParaRPr lang="bg-BG" dirty="0"/>
          </a:p>
        </p:txBody>
      </p:sp>
      <p:sp>
        <p:nvSpPr>
          <p:cNvPr id="11" name="Контейнер за номер на слайд 10">
            <a:extLst>
              <a:ext uri="{FF2B5EF4-FFF2-40B4-BE49-F238E27FC236}">
                <a16:creationId xmlns:a16="http://schemas.microsoft.com/office/drawing/2014/main" id="{E508239B-C4CD-FB65-B721-53F55D4454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bg-BG"/>
            </a:defPPr>
          </a:lstStyle>
          <a:p>
            <a:pPr rtl="0"/>
            <a:fld id="{CC43B8D3-9A08-F84C-9DD4-44948BA52D4B}" type="slidenum">
              <a:rPr lang="bg-BG" smtClean="0"/>
              <a:pPr rtl="0"/>
              <a:t>8</a:t>
            </a:fld>
            <a:endParaRPr lang="bg-BG" dirty="0"/>
          </a:p>
        </p:txBody>
      </p:sp>
      <p:sp>
        <p:nvSpPr>
          <p:cNvPr id="7" name="Контейнер за съдържание 6">
            <a:extLst>
              <a:ext uri="{FF2B5EF4-FFF2-40B4-BE49-F238E27FC236}">
                <a16:creationId xmlns:a16="http://schemas.microsoft.com/office/drawing/2014/main" id="{040DCE18-ABC2-7FC6-5155-D9DA57042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78237" y="1628177"/>
            <a:ext cx="4352544" cy="429539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457200">
              <a:buNone/>
            </a:pPr>
            <a:r>
              <a:rPr lang="bg-BG" sz="1200"/>
              <a:t>Функция </a:t>
            </a:r>
            <a:r>
              <a:rPr lang="bg-BG" sz="1200">
                <a:latin typeface="Arial Black"/>
              </a:rPr>
              <a:t>loop()</a:t>
            </a:r>
            <a:endParaRPr lang="bg-BG"/>
          </a:p>
          <a:p>
            <a:pPr marL="0" indent="457200">
              <a:buNone/>
            </a:pPr>
            <a:r>
              <a:rPr lang="bg-BG" sz="1200">
                <a:ea typeface="+mn-lt"/>
                <a:cs typeface="+mn-lt"/>
              </a:rPr>
              <a:t>Тази функция се изпълнява непрекъснато и съдържа основната логика на светофара:</a:t>
            </a:r>
            <a:endParaRPr lang="bg-BG" sz="1200"/>
          </a:p>
          <a:p>
            <a:pPr marL="228600" indent="457200">
              <a:buAutoNum type="arabicPeriod"/>
            </a:pPr>
            <a:r>
              <a:rPr lang="bg-BG" sz="1200" b="1">
                <a:ea typeface="+mn-lt"/>
                <a:cs typeface="+mn-lt"/>
              </a:rPr>
              <a:t>Червен сигнал</a:t>
            </a:r>
            <a:r>
              <a:rPr lang="bg-BG" sz="1200" dirty="0">
                <a:ea typeface="+mn-lt"/>
                <a:cs typeface="+mn-lt"/>
              </a:rPr>
              <a:t> </a:t>
            </a:r>
            <a:endParaRPr lang="bg-BG" sz="1200"/>
          </a:p>
          <a:p>
            <a:pPr marL="566420" lvl="1" indent="457200"/>
            <a:r>
              <a:rPr lang="bg-BG">
                <a:ea typeface="+mn-lt"/>
                <a:cs typeface="+mn-lt"/>
              </a:rPr>
              <a:t>Червеният LED се включва (</a:t>
            </a:r>
            <a:r>
              <a:rPr lang="bg-BG">
                <a:latin typeface="Arial Black"/>
              </a:rPr>
              <a:t>HIGH</a:t>
            </a:r>
            <a:r>
              <a:rPr lang="bg-BG">
                <a:ea typeface="+mn-lt"/>
                <a:cs typeface="+mn-lt"/>
              </a:rPr>
              <a:t>) </a:t>
            </a:r>
            <a:endParaRPr lang="bg-BG"/>
          </a:p>
          <a:p>
            <a:pPr marL="566420" lvl="1" indent="457200"/>
            <a:r>
              <a:rPr lang="bg-BG">
                <a:ea typeface="+mn-lt"/>
                <a:cs typeface="+mn-lt"/>
              </a:rPr>
              <a:t>Изчаква се 15 секунди (</a:t>
            </a:r>
            <a:r>
              <a:rPr lang="bg-BG">
                <a:latin typeface="Arial Black"/>
              </a:rPr>
              <a:t>delay(15000)</a:t>
            </a:r>
            <a:r>
              <a:rPr lang="bg-BG">
                <a:ea typeface="+mn-lt"/>
                <a:cs typeface="+mn-lt"/>
              </a:rPr>
              <a:t>) </a:t>
            </a:r>
            <a:endParaRPr lang="bg-BG"/>
          </a:p>
          <a:p>
            <a:pPr marL="566420" lvl="1" indent="457200"/>
            <a:r>
              <a:rPr lang="bg-BG">
                <a:ea typeface="+mn-lt"/>
                <a:cs typeface="+mn-lt"/>
              </a:rPr>
              <a:t>След това се изключва (</a:t>
            </a:r>
            <a:r>
              <a:rPr lang="bg-BG">
                <a:latin typeface="Arial Black"/>
              </a:rPr>
              <a:t>LOW</a:t>
            </a:r>
            <a:r>
              <a:rPr lang="bg-BG">
                <a:ea typeface="+mn-lt"/>
                <a:cs typeface="+mn-lt"/>
              </a:rPr>
              <a:t>) </a:t>
            </a:r>
            <a:endParaRPr lang="bg-BG"/>
          </a:p>
          <a:p>
            <a:pPr marL="283210" indent="457200">
              <a:buAutoNum type="arabicPeriod"/>
            </a:pPr>
            <a:r>
              <a:rPr lang="bg-BG" sz="1200" b="1">
                <a:ea typeface="+mn-lt"/>
                <a:cs typeface="+mn-lt"/>
              </a:rPr>
              <a:t>Жълт сигнал (мигащ)</a:t>
            </a:r>
            <a:r>
              <a:rPr lang="bg-BG" sz="1200" dirty="0">
                <a:ea typeface="+mn-lt"/>
                <a:cs typeface="+mn-lt"/>
              </a:rPr>
              <a:t> </a:t>
            </a:r>
            <a:endParaRPr lang="bg-BG" sz="1200"/>
          </a:p>
          <a:p>
            <a:pPr marL="566420" lvl="1" indent="457200"/>
            <a:r>
              <a:rPr lang="bg-BG">
                <a:ea typeface="+mn-lt"/>
                <a:cs typeface="+mn-lt"/>
              </a:rPr>
              <a:t>Жълтият LED се включва и изключва многократно </a:t>
            </a:r>
            <a:endParaRPr lang="bg-BG"/>
          </a:p>
          <a:p>
            <a:pPr marL="566420" lvl="1" indent="457200"/>
            <a:r>
              <a:rPr lang="bg-BG">
                <a:ea typeface="+mn-lt"/>
                <a:cs typeface="+mn-lt"/>
              </a:rPr>
              <a:t>Всеки цикъл включва: </a:t>
            </a:r>
            <a:endParaRPr lang="bg-BG"/>
          </a:p>
          <a:p>
            <a:pPr lvl="2" indent="457200"/>
            <a:r>
              <a:rPr lang="bg-BG" sz="1200">
                <a:ea typeface="+mn-lt"/>
                <a:cs typeface="+mn-lt"/>
              </a:rPr>
              <a:t>1 секунда включен </a:t>
            </a:r>
            <a:endParaRPr lang="bg-BG" sz="1200"/>
          </a:p>
          <a:p>
            <a:pPr lvl="2" indent="457200"/>
            <a:r>
              <a:rPr lang="bg-BG" sz="1200">
                <a:ea typeface="+mn-lt"/>
                <a:cs typeface="+mn-lt"/>
              </a:rPr>
              <a:t>0.5 секунди изключен </a:t>
            </a:r>
            <a:endParaRPr lang="bg-BG" sz="1200"/>
          </a:p>
          <a:p>
            <a:pPr marL="566420" lvl="1" indent="457200"/>
            <a:r>
              <a:rPr lang="bg-BG">
                <a:ea typeface="+mn-lt"/>
                <a:cs typeface="+mn-lt"/>
              </a:rPr>
              <a:t>Това се повтаря няколко пъти, създавайки мигащ ефект </a:t>
            </a:r>
            <a:endParaRPr lang="bg-BG"/>
          </a:p>
          <a:p>
            <a:pPr marL="283210" indent="457200">
              <a:buAutoNum type="arabicPeriod"/>
            </a:pPr>
            <a:r>
              <a:rPr lang="bg-BG" sz="1200" b="1">
                <a:ea typeface="+mn-lt"/>
                <a:cs typeface="+mn-lt"/>
              </a:rPr>
              <a:t>Зелен сигнал</a:t>
            </a:r>
            <a:r>
              <a:rPr lang="bg-BG" sz="1200" dirty="0">
                <a:ea typeface="+mn-lt"/>
                <a:cs typeface="+mn-lt"/>
              </a:rPr>
              <a:t> </a:t>
            </a:r>
            <a:endParaRPr lang="bg-BG" sz="1200"/>
          </a:p>
          <a:p>
            <a:pPr marL="566420" lvl="1" indent="457200"/>
            <a:r>
              <a:rPr lang="bg-BG">
                <a:ea typeface="+mn-lt"/>
                <a:cs typeface="+mn-lt"/>
              </a:rPr>
              <a:t>Зеленият LED се включва </a:t>
            </a:r>
            <a:endParaRPr lang="bg-BG"/>
          </a:p>
          <a:p>
            <a:pPr marL="566420" lvl="1" indent="457200"/>
            <a:r>
              <a:rPr lang="bg-BG">
                <a:ea typeface="+mn-lt"/>
                <a:cs typeface="+mn-lt"/>
              </a:rPr>
              <a:t>Свети 20 секунди </a:t>
            </a:r>
            <a:endParaRPr lang="bg-BG"/>
          </a:p>
          <a:p>
            <a:pPr marL="566420" lvl="1" indent="457200"/>
            <a:r>
              <a:rPr lang="bg-BG">
                <a:ea typeface="+mn-lt"/>
                <a:cs typeface="+mn-lt"/>
              </a:rPr>
              <a:t>След това се изключва </a:t>
            </a:r>
            <a:endParaRPr lang="bg-BG"/>
          </a:p>
          <a:p>
            <a:pPr marL="283210" indent="457200">
              <a:buAutoNum type="arabicPeriod"/>
            </a:pPr>
            <a:r>
              <a:rPr lang="bg-BG" sz="1200" b="1">
                <a:ea typeface="+mn-lt"/>
                <a:cs typeface="+mn-lt"/>
              </a:rPr>
              <a:t>Жълт сигнал (отново мигащ)</a:t>
            </a:r>
            <a:r>
              <a:rPr lang="bg-BG" sz="1200" dirty="0">
                <a:ea typeface="+mn-lt"/>
                <a:cs typeface="+mn-lt"/>
              </a:rPr>
              <a:t> </a:t>
            </a:r>
            <a:endParaRPr lang="bg-BG" sz="1200"/>
          </a:p>
          <a:p>
            <a:pPr marL="566420" lvl="1" indent="457200"/>
            <a:r>
              <a:rPr lang="bg-BG">
                <a:ea typeface="+mn-lt"/>
                <a:cs typeface="+mn-lt"/>
              </a:rPr>
              <a:t>След зеления сигнал жълтият LED отново мига по същия начин </a:t>
            </a:r>
            <a:endParaRPr lang="bg-BG"/>
          </a:p>
          <a:p>
            <a:pPr marL="566420" lvl="1" indent="457200"/>
            <a:r>
              <a:rPr lang="bg-BG">
                <a:ea typeface="+mn-lt"/>
                <a:cs typeface="+mn-lt"/>
              </a:rPr>
              <a:t>Това имитира преминаване обратно към червен сигнал </a:t>
            </a:r>
            <a:endParaRPr lang="bg-BG"/>
          </a:p>
          <a:p>
            <a:pPr marL="566420" lvl="1" indent="457200"/>
            <a:r>
              <a:rPr lang="bg-BG">
                <a:ea typeface="+mn-lt"/>
                <a:cs typeface="+mn-lt"/>
              </a:rPr>
              <a:t>След приключване на тази последователност, програмата започва отначало.</a:t>
            </a:r>
            <a:endParaRPr lang="bg-BG"/>
          </a:p>
          <a:p>
            <a:pPr marL="283210" indent="-283210">
              <a:buAutoNum type="arabicPeriod"/>
            </a:pPr>
            <a:endParaRPr lang="bg-BG" dirty="0"/>
          </a:p>
        </p:txBody>
      </p:sp>
      <p:sp>
        <p:nvSpPr>
          <p:cNvPr id="12" name="Контейнер за съдържание 11">
            <a:extLst>
              <a:ext uri="{FF2B5EF4-FFF2-40B4-BE49-F238E27FC236}">
                <a16:creationId xmlns:a16="http://schemas.microsoft.com/office/drawing/2014/main" id="{F8BFF550-B8A8-9581-5E63-902ED9D48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1069" y="1628177"/>
            <a:ext cx="4352544" cy="40842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457200">
              <a:buNone/>
            </a:pPr>
            <a:r>
              <a:rPr lang="bg-BG" sz="1200"/>
              <a:t>Програмата започва с дефиниране на три променливи:</a:t>
            </a:r>
            <a:endParaRPr lang="bg-BG"/>
          </a:p>
          <a:p>
            <a:pPr marL="283210" indent="457200"/>
            <a:r>
              <a:rPr lang="bg-BG" sz="1200">
                <a:latin typeface="Arial Black"/>
              </a:rPr>
              <a:t>red = 9</a:t>
            </a:r>
            <a:r>
              <a:rPr lang="bg-BG" sz="1200"/>
              <a:t> – червен светодиод </a:t>
            </a:r>
          </a:p>
          <a:p>
            <a:pPr marL="283210" indent="457200"/>
            <a:r>
              <a:rPr lang="bg-BG" sz="1200">
                <a:latin typeface="Arial Black"/>
              </a:rPr>
              <a:t>yellow = 8</a:t>
            </a:r>
            <a:r>
              <a:rPr lang="bg-BG" sz="1200"/>
              <a:t> – жълт светодиод </a:t>
            </a:r>
          </a:p>
          <a:p>
            <a:pPr marL="283210" indent="457200"/>
            <a:r>
              <a:rPr lang="bg-BG" sz="1200">
                <a:latin typeface="Arial Black"/>
              </a:rPr>
              <a:t>green = 7</a:t>
            </a:r>
            <a:r>
              <a:rPr lang="bg-BG" sz="1200"/>
              <a:t> – зелен светодиод </a:t>
            </a:r>
          </a:p>
          <a:p>
            <a:pPr marL="0" indent="457200">
              <a:buNone/>
            </a:pPr>
            <a:r>
              <a:rPr lang="bg-BG" sz="1200"/>
              <a:t>Функция </a:t>
            </a:r>
            <a:r>
              <a:rPr lang="bg-BG" sz="1200">
                <a:latin typeface="Arial Black"/>
              </a:rPr>
              <a:t>setup()</a:t>
            </a:r>
          </a:p>
          <a:p>
            <a:pPr marL="283210" indent="457200"/>
            <a:r>
              <a:rPr lang="bg-BG" sz="1200"/>
              <a:t>Тази функция се изпълнява само веднъж при стартиране на програмата.</a:t>
            </a:r>
            <a:br>
              <a:rPr lang="bg-BG" sz="1200" dirty="0"/>
            </a:br>
            <a:r>
              <a:rPr lang="bg-BG" sz="1200"/>
              <a:t> В нея трите пина се задават като изходи чрез </a:t>
            </a:r>
            <a:r>
              <a:rPr lang="bg-BG" sz="1200">
                <a:latin typeface="Arial Black"/>
              </a:rPr>
              <a:t>pinMode()</a:t>
            </a:r>
            <a:r>
              <a:rPr lang="bg-BG" sz="1200"/>
              <a:t>, което позволява Arduino да управлява светодиодите.</a:t>
            </a:r>
          </a:p>
        </p:txBody>
      </p:sp>
    </p:spTree>
    <p:extLst>
      <p:ext uri="{BB962C8B-B14F-4D97-AF65-F5344CB8AC3E}">
        <p14:creationId xmlns:p14="http://schemas.microsoft.com/office/powerpoint/2010/main" val="2368127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лавие 5">
            <a:extLst>
              <a:ext uri="{FF2B5EF4-FFF2-40B4-BE49-F238E27FC236}">
                <a16:creationId xmlns:a16="http://schemas.microsoft.com/office/drawing/2014/main" id="{9B8D1C32-CEDB-F6E2-A01E-72AE1A1D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rtlCol="0" anchor="ctr">
            <a:normAutofit/>
          </a:bodyPr>
          <a:lstStyle>
            <a:defPPr>
              <a:defRPr lang="bg-BG"/>
            </a:defPPr>
          </a:lstStyle>
          <a:p>
            <a:pPr rtl="0"/>
            <a:r>
              <a:rPr lang="bg-BG"/>
              <a:t>Заключение</a:t>
            </a:r>
            <a:endParaRPr lang="bg-BG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02F3C8B-7894-2720-E8C2-2F4F5BFC8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79" y="1870596"/>
            <a:ext cx="10725526" cy="46812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457200" algn="just">
              <a:buNone/>
            </a:pPr>
            <a:r>
              <a:rPr lang="en-US" sz="2000">
                <a:ea typeface="+mn-lt"/>
                <a:cs typeface="+mn-lt"/>
              </a:rPr>
              <a:t>Проектът успешно реализира базова симулация на светофар чрез Arduino. Той показва как могат да се управляват електронни компоненти чрез програмен </a:t>
            </a:r>
            <a:r>
              <a:rPr lang="en-US" sz="2000" dirty="0">
                <a:ea typeface="+mn-lt"/>
                <a:cs typeface="+mn-lt"/>
              </a:rPr>
              <a:t>код и как да се създават времеви последователности.</a:t>
            </a:r>
            <a:endParaRPr lang="bg-BG" sz="2000"/>
          </a:p>
          <a:p>
            <a:pPr marL="283210" indent="457200" algn="just">
              <a:buNone/>
            </a:pPr>
            <a:r>
              <a:rPr lang="en-US" sz="2000">
                <a:ea typeface="+mn-lt"/>
                <a:cs typeface="+mn-lt"/>
              </a:rPr>
              <a:t>Основните предимства на проекта са:</a:t>
            </a:r>
            <a:endParaRPr lang="en-US" sz="2000"/>
          </a:p>
          <a:p>
            <a:pPr marL="283210" indent="457200" algn="just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Лесен за разбиране и реализиране </a:t>
            </a:r>
            <a:endParaRPr lang="en-US" sz="2000"/>
          </a:p>
          <a:p>
            <a:pPr marL="283210" indent="457200" algn="just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Подходящ за начинаещи </a:t>
            </a:r>
            <a:endParaRPr lang="en-US" sz="2000"/>
          </a:p>
          <a:p>
            <a:pPr marL="283210" indent="457200" algn="just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Демонстрира реално приложение (светофарна система) </a:t>
            </a:r>
            <a:endParaRPr lang="en-US" sz="2000"/>
          </a:p>
          <a:p>
            <a:pPr marL="283210" indent="457200" algn="just">
              <a:buNone/>
            </a:pPr>
            <a:r>
              <a:rPr lang="en-US" sz="2000">
                <a:ea typeface="+mn-lt"/>
                <a:cs typeface="+mn-lt"/>
              </a:rPr>
              <a:t>Възможни подобрения включват:</a:t>
            </a:r>
            <a:endParaRPr lang="en-US" sz="2000"/>
          </a:p>
          <a:p>
            <a:pPr marL="283210" indent="457200" algn="just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Добавяне на бутон за пешеходци </a:t>
            </a:r>
            <a:endParaRPr lang="en-US" sz="2000"/>
          </a:p>
          <a:p>
            <a:pPr marL="283210" indent="457200" algn="just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Използване на по-ефективен код (например цикли вместо повтарящ се код) </a:t>
            </a:r>
            <a:endParaRPr lang="en-US" sz="2000"/>
          </a:p>
          <a:p>
            <a:pPr marL="283210" indent="457200" algn="just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Добавяне на дисплей или сензори </a:t>
            </a:r>
            <a:endParaRPr lang="en-US" sz="2000"/>
          </a:p>
          <a:p>
            <a:pPr marL="283210" indent="457200" algn="just">
              <a:buNone/>
            </a:pPr>
            <a:r>
              <a:rPr lang="en-US" sz="2000">
                <a:ea typeface="+mn-lt"/>
                <a:cs typeface="+mn-lt"/>
              </a:rPr>
              <a:t>Проектът е добра основа за по-сложни системи и развива практически умения в програмирането и електрониката.</a:t>
            </a:r>
            <a:endParaRPr lang="en-US" sz="2000"/>
          </a:p>
          <a:p>
            <a:pPr marL="0" indent="457200">
              <a:buNone/>
            </a:pP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4D29FA1-ACA3-BD11-85E3-716E8D01C9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Контейнер за номер на слайд 10">
            <a:extLst>
              <a:ext uri="{FF2B5EF4-FFF2-40B4-BE49-F238E27FC236}">
                <a16:creationId xmlns:a16="http://schemas.microsoft.com/office/drawing/2014/main" id="{517F181E-B3F5-EEEB-086C-37ADB36790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 rtlCol="0" anchor="ctr">
            <a:normAutofit/>
          </a:bodyPr>
          <a:lstStyle>
            <a:defPPr>
              <a:defRPr lang="bg-BG"/>
            </a:defPPr>
          </a:lstStyle>
          <a:p>
            <a:pPr rtl="0">
              <a:spcAft>
                <a:spcPts val="600"/>
              </a:spcAft>
            </a:pPr>
            <a:fld id="{CC43B8D3-9A08-F84C-9DD4-44948BA52D4B}" type="slidenum">
              <a:rPr lang="bg-BG" smtClean="0"/>
              <a:pPr rtl="0">
                <a:spcAft>
                  <a:spcPts val="600"/>
                </a:spcAft>
              </a:pPr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37031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id="{1945C2F8-2E24-F46B-AC7B-3070B3814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700" y="1442686"/>
            <a:ext cx="6052544" cy="2689050"/>
          </a:xfrm>
        </p:spPr>
        <p:txBody>
          <a:bodyPr rtlCol="0"/>
          <a:lstStyle>
            <a:defPPr>
              <a:defRPr lang="bg-BG"/>
            </a:defPPr>
          </a:lstStyle>
          <a:p>
            <a:r>
              <a:rPr lang="bg-BG" dirty="0"/>
              <a:t>Благодаря </a:t>
            </a:r>
            <a:r>
              <a:rPr lang="bg-BG"/>
              <a:t>за вниманието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61219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на Offic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Тема н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н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30B917-A3AD-46B5-A6A4-F876E3BAC3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31C809-C6F0-48D7-BF3E-4570CDAF51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E8C75813-FBB5-478B-828B-AC67018E27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468</Words>
  <Application>Microsoft Office PowerPoint</Application>
  <PresentationFormat>Широк екран</PresentationFormat>
  <Paragraphs>82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Тема на Office</vt:lpstr>
      <vt:lpstr>Проект на ардуино</vt:lpstr>
      <vt:lpstr>Съдържание</vt:lpstr>
      <vt:lpstr>Описание на проекта</vt:lpstr>
      <vt:lpstr>Блокова схема </vt:lpstr>
      <vt:lpstr>Електрическа схема</vt:lpstr>
      <vt:lpstr>Списък съставни части</vt:lpstr>
      <vt:lpstr>Сорс код - описание на функционалността</vt:lpstr>
      <vt:lpstr>Сорс код - описание на функционалността</vt:lpstr>
      <vt:lpstr>Заключение</vt:lpstr>
      <vt:lpstr>Благодаря за вниманието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на ардуино</dc:title>
  <dc:creator/>
  <cp:lastModifiedBy>Венета М. Тончева</cp:lastModifiedBy>
  <cp:revision>256</cp:revision>
  <dcterms:created xsi:type="dcterms:W3CDTF">2026-04-23T17:05:43Z</dcterms:created>
  <dcterms:modified xsi:type="dcterms:W3CDTF">2026-04-25T07:23:17Z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